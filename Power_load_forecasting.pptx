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86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108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Power Load Forecasting System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319105"/>
            <a:ext cx="73267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Predicting Electricity Demand with Machine Learning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013597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system offers ML-based short-term power demand forecasting with an interactive Streamlit web interface. The best model, XGBoost, achieved an R² of 0.942, providing real-time predictions and feature analysis.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924431"/>
            <a:ext cx="35015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Created By:</a:t>
            </a: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Ritesh Pachlore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56321" y="5924431"/>
            <a:ext cx="35015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7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338" y="477202"/>
            <a:ext cx="6407944" cy="542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Why Power Load Forecasting?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7338" y="1279803"/>
            <a:ext cx="7929324" cy="83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Accurate power load forecasting is crucial for grid stability and cost efficiency. Inaccurate predictions lead to high costs and overload risks, issues traditional methods often fail to address.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07338" y="2307908"/>
            <a:ext cx="7929324" cy="1045488"/>
          </a:xfrm>
          <a:prstGeom prst="roundRect">
            <a:avLst>
              <a:gd name="adj" fmla="val 104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4478" y="2307908"/>
            <a:ext cx="91440" cy="1045488"/>
          </a:xfrm>
          <a:prstGeom prst="roundRect">
            <a:avLst>
              <a:gd name="adj" fmla="val 79708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872252" y="2504242"/>
            <a:ext cx="230886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Optimized Generation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2252" y="2879408"/>
            <a:ext cx="7468076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Efficient power generation and scheduling.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7338" y="3526869"/>
            <a:ext cx="7929324" cy="1045488"/>
          </a:xfrm>
          <a:prstGeom prst="roundRect">
            <a:avLst>
              <a:gd name="adj" fmla="val 104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4478" y="3526869"/>
            <a:ext cx="91440" cy="1045488"/>
          </a:xfrm>
          <a:prstGeom prst="roundRect">
            <a:avLst>
              <a:gd name="adj" fmla="val 79708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872252" y="3723203"/>
            <a:ext cx="216920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Reduced Costs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2252" y="4098369"/>
            <a:ext cx="7468076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Significant decrease in operational expenses.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7338" y="4745831"/>
            <a:ext cx="7929324" cy="1045488"/>
          </a:xfrm>
          <a:prstGeom prst="roundRect">
            <a:avLst>
              <a:gd name="adj" fmla="val 104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4478" y="4745831"/>
            <a:ext cx="91440" cy="1045488"/>
          </a:xfrm>
          <a:prstGeom prst="roundRect">
            <a:avLst>
              <a:gd name="adj" fmla="val 79708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872252" y="4942165"/>
            <a:ext cx="237232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Renewable Integration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2252" y="5317331"/>
            <a:ext cx="7468076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Better incorporation of renewable energy sources.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7338" y="5964793"/>
            <a:ext cx="7929324" cy="1045488"/>
          </a:xfrm>
          <a:prstGeom prst="roundRect">
            <a:avLst>
              <a:gd name="adj" fmla="val 1049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4478" y="5964793"/>
            <a:ext cx="91440" cy="1045488"/>
          </a:xfrm>
          <a:prstGeom prst="roundRect">
            <a:avLst>
              <a:gd name="adj" fmla="val 79708"/>
            </a:avLst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872252" y="6161127"/>
            <a:ext cx="2169200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Improved Planning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72252" y="6536293"/>
            <a:ext cx="7468076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Enhanced distribution network planning.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07338" y="7205424"/>
            <a:ext cx="7929324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solution uses a Machine Learning model to predict demand based on temperature and time features.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522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Dataset Summary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2012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model was trained on a comprehensive dataset of 102,613 samples, split 80/20 for training and testing. The target is normalized power demand (0-1).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77190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Input Features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442400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Temperature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486620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Hour of day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30840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Weekday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575060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Month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3790" y="619279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Is Weekend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3790" y="663499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Season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56321" y="377190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Processing Steps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56321" y="442400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Missing value handling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56321" y="486620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Outlier removal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56321" y="530840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Feature scaling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56321" y="575060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Temporal feature extraction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898" y="405646"/>
            <a:ext cx="3887510" cy="46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ML Pipeline Overview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5898" y="1160978"/>
            <a:ext cx="1359860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robust ML pipeline ensures accurate power load forecasting through a structured workflow and rigorous model testing.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98" y="1562457"/>
            <a:ext cx="736997" cy="8845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0294" y="1709857"/>
            <a:ext cx="18427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Data Ingestion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00294" y="2028587"/>
            <a:ext cx="12714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Raw data collection.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98" y="2446973"/>
            <a:ext cx="736997" cy="8845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0294" y="2594372"/>
            <a:ext cx="18427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Preprocessing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400294" y="2913102"/>
            <a:ext cx="12714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Feature engineering.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98" y="3331488"/>
            <a:ext cx="736997" cy="884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0294" y="3478887"/>
            <a:ext cx="18427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Model Training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400294" y="3797618"/>
            <a:ext cx="12714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7 ML models.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898" y="4216003"/>
            <a:ext cx="736997" cy="884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294" y="4363403"/>
            <a:ext cx="231493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Performance Comparison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400294" y="4682133"/>
            <a:ext cx="12714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Evaluate models.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898" y="5100518"/>
            <a:ext cx="736997" cy="8845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00294" y="5247918"/>
            <a:ext cx="18427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Model Selection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400294" y="5566648"/>
            <a:ext cx="12714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Best model chosen.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898" y="5985034"/>
            <a:ext cx="736997" cy="88451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00294" y="6132433"/>
            <a:ext cx="18427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Deployment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400294" y="6451163"/>
            <a:ext cx="12714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Streamlit UI.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15898" y="7090648"/>
            <a:ext cx="221122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Models Tested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15898" y="7588091"/>
            <a:ext cx="1359860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Linear Regression, Ridge &amp; Lasso, Random Forest, Gradient Boosting, Extra Trees, and the winning </a:t>
            </a:r>
            <a:r>
              <a:rPr lang="en-US" sz="11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</a:t>
            </a: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508271-136F-57D7-B4E1-1A427A65E5B2}"/>
              </a:ext>
            </a:extLst>
          </p:cNvPr>
          <p:cNvSpPr/>
          <p:nvPr/>
        </p:nvSpPr>
        <p:spPr>
          <a:xfrm>
            <a:off x="12811125" y="7734300"/>
            <a:ext cx="173355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18" y="651986"/>
            <a:ext cx="4717137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Training &amp; Evaluation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2818" y="1501259"/>
            <a:ext cx="7858363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training setup involved an 80-20 train-test split, K-Fold cross-validation, and hyperparameter optimization to ensure model robustness.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2818" y="2295525"/>
            <a:ext cx="3837384" cy="1807845"/>
          </a:xfrm>
          <a:prstGeom prst="roundRect">
            <a:avLst>
              <a:gd name="adj" fmla="val 4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4033" y="2486739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480" y="2638187"/>
            <a:ext cx="247888" cy="247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4033" y="3221236"/>
            <a:ext cx="2295763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Train-Test Split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34033" y="3618309"/>
            <a:ext cx="345495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80% training, 20% testing.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63797" y="2295525"/>
            <a:ext cx="3837384" cy="1807845"/>
          </a:xfrm>
          <a:prstGeom prst="roundRect">
            <a:avLst>
              <a:gd name="adj" fmla="val 4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55012" y="2486739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6459" y="2638187"/>
            <a:ext cx="247888" cy="247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55012" y="3221236"/>
            <a:ext cx="2295763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Cross-Validation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855012" y="3618309"/>
            <a:ext cx="345495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K-Fold method.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42818" y="4286964"/>
            <a:ext cx="7858363" cy="1807845"/>
          </a:xfrm>
          <a:prstGeom prst="roundRect">
            <a:avLst>
              <a:gd name="adj" fmla="val 4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4033" y="4478179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5480" y="4629626"/>
            <a:ext cx="247888" cy="247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4033" y="5212675"/>
            <a:ext cx="333767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Hyperparameter Optimization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34033" y="5609749"/>
            <a:ext cx="7475934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Fine-tuning for best performance.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42818" y="6370201"/>
            <a:ext cx="2754868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Metrics Used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42818" y="6989921"/>
            <a:ext cx="7858363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R² score, Mean Absolute Error (MAE), and Root Mean Squared Error (RMSE) were used for evaluation. XGBoost achieved the highest R² of 0.942, demonstrating superior accuracy.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20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Model Performance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44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 emerged as the top performer, showcasing the highest R² score and lowest MAE among the tested models.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062526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21385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Linear Regression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89108" y="3213854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0.892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3161" y="3213854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0.034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97215" y="3213854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Baseline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386417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Random Forest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89108" y="386417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0.894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43161" y="386417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0.032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7215" y="3864173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Good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51449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Gradient Boosting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89108" y="451449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0.939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43161" y="451449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0.032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97215" y="4514493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Very Good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16481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Extra Trees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89108" y="516481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0.932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43161" y="516481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0.033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97215" y="5164812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Very Good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581513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89108" y="581513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0.942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43161" y="581513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0.0319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97215" y="5815132"/>
            <a:ext cx="54049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BEST </a:t>
            </a: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✔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790" y="65845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XGBoost proved to be the most stable and accurate model for our dataset, ensuring reliable predictions.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8E7567-A237-FD27-41AF-9F743B88092B}"/>
              </a:ext>
            </a:extLst>
          </p:cNvPr>
          <p:cNvSpPr/>
          <p:nvPr/>
        </p:nvSpPr>
        <p:spPr>
          <a:xfrm>
            <a:off x="12811125" y="7734300"/>
            <a:ext cx="173355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19" y="598765"/>
            <a:ext cx="5443776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Feature Importance</a:t>
            </a:r>
            <a:endParaRPr lang="en-US" sz="4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119" y="1714619"/>
            <a:ext cx="13106162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Understanding feature importance reveals the primary drivers of power demand fluctuations.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3104" y="296346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Is Weekend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119" y="3434239"/>
            <a:ext cx="3932873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41.86% influence.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580" y="2307908"/>
            <a:ext cx="4587121" cy="458712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6943" y="3303270"/>
            <a:ext cx="325755" cy="3257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5289" y="296346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Hour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935289" y="3434239"/>
            <a:ext cx="3932992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29.24% influence.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580" y="2307908"/>
            <a:ext cx="4587121" cy="458712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7464" y="3303270"/>
            <a:ext cx="325755" cy="3257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5289" y="5420320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Season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9935289" y="5891093"/>
            <a:ext cx="3932992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15.76% influence.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1580" y="2307908"/>
            <a:ext cx="4587121" cy="458712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87464" y="5573792"/>
            <a:ext cx="325755" cy="32575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73104" y="5420320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Temperature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62119" y="5891093"/>
            <a:ext cx="3932873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10.74% influence.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1580" y="2307908"/>
            <a:ext cx="4587121" cy="4587121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6943" y="5573792"/>
            <a:ext cx="325755" cy="32575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62119" y="7139940"/>
            <a:ext cx="13106162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significant impact of "Is Weekend" and "Hour" highlights that demand patterns change drastically on weekends and across different hours of the day.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824388-3559-2A24-5EF3-C6F1F0E38BB2}"/>
              </a:ext>
            </a:extLst>
          </p:cNvPr>
          <p:cNvSpPr/>
          <p:nvPr/>
        </p:nvSpPr>
        <p:spPr>
          <a:xfrm>
            <a:off x="12811125" y="7734300"/>
            <a:ext cx="173355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4374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5445" y="554355"/>
            <a:ext cx="5057775" cy="62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5445" y="1486614"/>
            <a:ext cx="773310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project architecture is designed for efficiency and scalability, integrating various technologies to deliver accurate forecasts.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45" y="2358152"/>
            <a:ext cx="7733109" cy="42199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69310" y="4050840"/>
            <a:ext cx="1600263" cy="41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769310" y="4529058"/>
            <a:ext cx="1600263" cy="33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Scalable Python stack for accurate forecasts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26010" y="3210236"/>
            <a:ext cx="1674695" cy="2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Python Backend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40414" y="3479118"/>
            <a:ext cx="1845885" cy="33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Handles requests and orchestration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30736" y="5294300"/>
            <a:ext cx="1674694" cy="2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ML Pipeline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45140" y="5563182"/>
            <a:ext cx="1845885" cy="33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Preprocessing and XGBoost inference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339142" y="2800867"/>
            <a:ext cx="1674694" cy="2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Streamlit UI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253547" y="3069748"/>
            <a:ext cx="1845885" cy="33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User inputs and visualizations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102717" y="5629239"/>
            <a:ext cx="1674695" cy="2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Model &amp; Data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017122" y="5898121"/>
            <a:ext cx="1845885" cy="33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best_model.pkl and processed CSV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05445" y="6880384"/>
            <a:ext cx="3023711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Tech Stack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05445" y="7560707"/>
            <a:ext cx="7733109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Python 3.11, Streamlit UI, Scikit-learn, XGBoost, Pandas &amp; NumPy, Matplotlib.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3926"/>
            <a:ext cx="72085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Web Application Interface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98286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Streamlit application provides an intuitive user interface for real-time predictions and insightful data visualization.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31906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Prediction Tab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38427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Input 6 features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42849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model inference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47271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Model accuracy (R² = 0.942)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0190" y="5316855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Feature Importance Tab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80190" y="639425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Bar &amp; Pie charts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80190" y="683645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Interactive plots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42721" y="31906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About Tab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42721" y="38427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Model info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342721" y="42849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Feature descriptions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342721" y="47271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Instructions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342721" y="531685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Advantages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342721" y="596896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Intuitive UI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342721" y="641115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&lt;1 second prediction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342721" y="685335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Non-technical user friendly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D5C119-D926-A0BA-2DA4-FE15C4162E84}"/>
              </a:ext>
            </a:extLst>
          </p:cNvPr>
          <p:cNvSpPr/>
          <p:nvPr/>
        </p:nvSpPr>
        <p:spPr>
          <a:xfrm>
            <a:off x="12811125" y="7715250"/>
            <a:ext cx="173355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463" y="512683"/>
            <a:ext cx="5896808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Conclusion &amp; Future Work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2463" y="1374815"/>
            <a:ext cx="7839075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project delivers a scalable and efficient system for accurate short-term power load forecasting.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52463" y="2180987"/>
            <a:ext cx="22860" cy="4732139"/>
          </a:xfrm>
          <a:prstGeom prst="roundRect">
            <a:avLst>
              <a:gd name="adj" fmla="val 342530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675323" y="2180987"/>
            <a:ext cx="7839075" cy="2179677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1655" y="2374940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Achievements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1655" y="2777966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94.2% accurate prediction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1655" y="3141464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Clean architecture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1655" y="3504962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UI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61655" y="3868460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Automated training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75323" y="4733449"/>
            <a:ext cx="7839075" cy="2179677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1655" y="4927402"/>
            <a:ext cx="2486144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Future Enhancements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1655" y="5330428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Batch CSV prediction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61655" y="5693926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FastAPI forecast API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61655" y="6057424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Cloud deployment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1655" y="6420922"/>
            <a:ext cx="745878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Live weather integration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2463" y="7122795"/>
            <a:ext cx="7839075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We aim to further enhance the system with multi-step forecasting and an auto-retraining pipeline for continuous improvement.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679</Words>
  <Application>Microsoft Office PowerPoint</Application>
  <PresentationFormat>Custom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Ritesh</dc:creator>
  <cp:lastModifiedBy>Ritesh Pachlore</cp:lastModifiedBy>
  <cp:revision>3</cp:revision>
  <dcterms:created xsi:type="dcterms:W3CDTF">2025-11-17T19:52:13Z</dcterms:created>
  <dcterms:modified xsi:type="dcterms:W3CDTF">2025-11-18T09:02:08Z</dcterms:modified>
</cp:coreProperties>
</file>